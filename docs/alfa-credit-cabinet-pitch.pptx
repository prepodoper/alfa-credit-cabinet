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097280"/>
            <a:ext cx="5120640" cy="5120640"/>
          </a:xfrm>
          <a:prstGeom prst="ellipse">
            <a:avLst/>
          </a:prstGeom>
          <a:solidFill>
            <a:srgbClr val="2A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795760" y="4937760"/>
            <a:ext cx="3291840" cy="3291840"/>
          </a:xfrm>
          <a:prstGeom prst="ellipse">
            <a:avLst/>
          </a:prstGeom>
          <a:solidFill>
            <a:srgbClr val="1E1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549640" y="822960"/>
            <a:ext cx="3108960" cy="3108960"/>
          </a:xfrm>
          <a:prstGeom prst="ellipse">
            <a:avLst/>
          </a:prstGeom>
          <a:noFill/>
          <a:ln w="15240">
            <a:solidFill>
              <a:srgbClr val="3A1E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5800" y="6400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75895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713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CDD6"/>
                </a:solidFill>
                <a:latin typeface="Arial"/>
              </a:rPr>
              <a:t>АЛЬФА-БИЗНЕС · КРЕДИТНЫЙ КАБИНЕТ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932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19E"/>
                </a:solidFill>
                <a:latin typeface="Arial"/>
              </a:rPr>
              <a:t>Альфа-Хак × Альфа-Банк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9509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Умный кредитный
кабинет предпринимателя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EC9"/>
                </a:solidFill>
                <a:latin typeface="Arial"/>
              </a:rPr>
              <a:t>Цифровой кредитный конвейер для малого и микробизнеса:
от потребности в финансировании до денег на счёте —
в одном продукте для клиента и банка.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49240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1">
                <a:solidFill>
                  <a:srgbClr val="E6E8EC"/>
                </a:solidFill>
                <a:latin typeface="Arial"/>
              </a:rPr>
              <a:t>FastAPI + 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53492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1">
                <a:solidFill>
                  <a:srgbClr val="E6E8EC"/>
                </a:solidFill>
                <a:latin typeface="Arial"/>
              </a:rPr>
              <a:t>Docker Compose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34924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1">
                <a:solidFill>
                  <a:srgbClr val="E6E8EC"/>
                </a:solidFill>
                <a:latin typeface="Arial"/>
              </a:rPr>
              <a:t>13 автотестов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79" y="53492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4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1">
                <a:solidFill>
                  <a:srgbClr val="E6E8EC"/>
                </a:solidFill>
                <a:latin typeface="Arial"/>
              </a:rPr>
              <a:t>22 API-метода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72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C7280"/>
                </a:solidFill>
                <a:latin typeface="Arial"/>
              </a:rPr>
              <a:t>Демонстрационный прототип · синтетические данные · моки БКИ / ЕГРЮЛ / ФНС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Клиент и банк живут в разных процессах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Arial"/>
              </a:rPr>
              <a:t>Предприниматель не понимает, что происходит с заявкой. Банк тратит экспертизу на типовые обращения.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26151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2212848"/>
            <a:ext cx="50292" cy="2084831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414016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Клиент не знает продукт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54096"/>
            <a:ext cx="2157984" cy="1078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Выбор из десятков условий без банковской экспертизы: непонятно, что подойдёт именно под задачу бизнеса.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212848"/>
            <a:ext cx="26151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56432" y="2212848"/>
            <a:ext cx="50292" cy="208483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12464" y="2414016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Статус заявки — «чёрный ящик»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4" y="3054096"/>
            <a:ext cx="2157984" cy="1078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После отправки нет понимания этапов, сроков и того, какие данные уже проверены.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212848"/>
            <a:ext cx="26151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72784" y="2212848"/>
            <a:ext cx="50292" cy="208483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28816" y="2414016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Отказ без объяснения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3054096"/>
            <a:ext cx="2157984" cy="1078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Клиент не понимает причину решения и не знает, что исправить перед новой заявкой.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2212848"/>
            <a:ext cx="26151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089136" y="2212848"/>
            <a:ext cx="50292" cy="208483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45167" y="2414016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Ручная работа с типовыми заявками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3054096"/>
            <a:ext cx="2157984" cy="1078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Андеррайтер собирает данные из разных систем и тратит время на случаи, которые решаются правилами.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908792" cy="1298448"/>
          </a:xfrm>
          <a:prstGeom prst="roundRect">
            <a:avLst>
              <a:gd name="adj" fmla="val 5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F3124"/>
                </a:solidFill>
                <a:latin typeface="Arial"/>
              </a:rPr>
              <a:t>НАША ГИПОТЕЗА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Если связать клиентский путь и внутреннюю обработку в один наблюдаемый процесс,
клиент быстрее доходит до денег, а банк снижает стоимость обработки заявки.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Один процесс, два рабочих места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Arial"/>
              </a:rPr>
              <a:t>Клиент видит путь и следующий шаг. Банк видит риск и принимает решение в одном окне.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57800" cy="3456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395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F3124"/>
                </a:solidFill>
                <a:latin typeface="Arial"/>
              </a:rPr>
              <a:t>КАБИНЕТ ПРЕДПРИНИМАТЕЛЯ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475488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Обзор: предварительный лимит, риск-класс, портфель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Подбор продукта по задаче и онлайн-калькулятор платежа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Предварительная проверка требований до подачи заявки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Заявка с прозрачным таймлайном и автообновлением статуса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Оферта или контрпредложение: сравнение условий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Подписание документов и выдача внутри кабинета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Запрос уточнений, документы, причины отказа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F3124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Новостная лента под отрасль и стадию заявки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2194560"/>
            <a:ext cx="5440680" cy="3456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64224" y="2395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РАБОЧЕЕ МЕСТО АНДЕРРАЙТЕРА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2743200"/>
            <a:ext cx="493776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4181F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Очередь заявок с SLA и результатом скоринга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4181F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Карточка клиента: анкета, финансы, БКИ, ЕГРЮЛ, ФНС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4181F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Прозрачные факторы скоринга и стоп-факторы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4181F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Четыре решения: одобрить, контрпредложение, уточнения, отказ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4181F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Автоматическая фиксация решения в журнале заявки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4181F"/>
                </a:solidFill>
                <a:latin typeface="Arial"/>
              </a:rPr>
              <a:t>•  </a:t>
            </a:r>
            <a:r>
              <a:rPr sz="1100">
                <a:solidFill>
                  <a:srgbClr val="2B303B"/>
                </a:solidFill>
                <a:latin typeface="Arial"/>
              </a:rPr>
              <a:t>Аналитика конвейера: воронка, SLA, доля автоматизации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233172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бэк-офис</a:t>
            </a:r>
          </a:p>
        </p:txBody>
      </p:sp>
      <p:sp>
        <p:nvSpPr>
          <p:cNvPr id="12" name="Oval 11"/>
          <p:cNvSpPr/>
          <p:nvPr/>
        </p:nvSpPr>
        <p:spPr>
          <a:xfrm>
            <a:off x="5797296" y="3730752"/>
            <a:ext cx="329184" cy="329184"/>
          </a:xfrm>
          <a:prstGeom prst="ellipse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97296" y="379476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70448"/>
            <a:ext cx="3474720" cy="45720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Единый процесс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087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заявка, данные и события не теряются между этапами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5870448"/>
            <a:ext cx="347472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97680" y="59893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Прозрачность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62087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клиент всегда знает статус и следующий шаг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5870448"/>
            <a:ext cx="347472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55279" y="59893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Скорость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2087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типовые решения — минуты, без андеррайтера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КЛИЕНТСКИЙ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От потребности до денег на счёте — 5 шагов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9536" y="22677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F3124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33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Подбор и расчёт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Продукт по задаче, платёж и ставка до заявки, проверка требований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529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10312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127248" y="22677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97706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633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Заявка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926080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Цель, сумма, срок и согласие на проверки — 4 поля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8529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210312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94960" y="22677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633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Решение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26080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Автоматически за минуты или андеррайтером в пограничных случаях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28529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210312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62671" y="22677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563EB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633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Документы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2926080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Оферта, сравнение условий, пакет документов и подпись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5" y="28529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2103120"/>
            <a:ext cx="2084831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30384" y="22677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9F6E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6334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Выдача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2926080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7280"/>
                </a:solidFill>
                <a:latin typeface="Arial"/>
              </a:rPr>
              <a:t>Зачисление на счёт, график платежей и статус в кабинете</a:t>
            </a:r>
          </a:p>
        </p:txBody>
      </p:sp>
      <p:pic>
        <p:nvPicPr>
          <p:cNvPr id="28" name="Picture 2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119" y="4160520"/>
            <a:ext cx="3820160" cy="214884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315200" y="4160520"/>
            <a:ext cx="4233672" cy="21488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43800" y="43434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ЧТО ЭТО ДАЁТ КЛИЕНТУ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663440"/>
            <a:ext cx="38404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EF3124"/>
                </a:solidFill>
                <a:latin typeface="Arial"/>
              </a:rPr>
              <a:t>•  </a:t>
            </a:r>
            <a:r>
              <a:rPr sz="1000">
                <a:solidFill>
                  <a:srgbClr val="2B303B"/>
                </a:solidFill>
                <a:latin typeface="Arial"/>
              </a:rPr>
              <a:t>предварительный лимит и риск-профиль до заявки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EF3124"/>
                </a:solidFill>
                <a:latin typeface="Arial"/>
              </a:rPr>
              <a:t>•  </a:t>
            </a:r>
            <a:r>
              <a:rPr sz="1000">
                <a:solidFill>
                  <a:srgbClr val="2B303B"/>
                </a:solidFill>
                <a:latin typeface="Arial"/>
              </a:rPr>
              <a:t>платёж — главная цифра каждого экрана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EF3124"/>
                </a:solidFill>
                <a:latin typeface="Arial"/>
              </a:rPr>
              <a:t>•  </a:t>
            </a:r>
            <a:r>
              <a:rPr sz="1000">
                <a:solidFill>
                  <a:srgbClr val="2B303B"/>
                </a:solidFill>
                <a:latin typeface="Arial"/>
              </a:rPr>
              <a:t>никакого повторного ввода: данные уже в банке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 b="1">
                <a:solidFill>
                  <a:srgbClr val="EF3124"/>
                </a:solidFill>
                <a:latin typeface="Arial"/>
              </a:rPr>
              <a:t>•  </a:t>
            </a:r>
            <a:r>
              <a:rPr sz="1000">
                <a:solidFill>
                  <a:srgbClr val="2B303B"/>
                </a:solidFill>
                <a:latin typeface="Arial"/>
              </a:rPr>
              <a:t>понятный следующий шаг при любом статусе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Расчёт условий до заявки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Arial"/>
              </a:rPr>
              <a:t>Клиент видит платёж, проценты и результат предварительной проверки до отправки заявки.</a:t>
            </a:r>
          </a:p>
        </p:txBody>
      </p:sp>
      <p:pic>
        <p:nvPicPr>
          <p:cNvPr id="5" name="Picture 4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8836"/>
            <a:ext cx="7178040" cy="40376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2057400"/>
            <a:ext cx="3502152" cy="1938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75320" y="2240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ПРОВЕРКА ДО ЗАЯВКИ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5420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F3124"/>
                </a:solidFill>
                <a:latin typeface="Arial"/>
              </a:rPr>
              <a:t>•  </a:t>
            </a:r>
            <a:r>
              <a:rPr sz="1050">
                <a:solidFill>
                  <a:srgbClr val="2B303B"/>
                </a:solidFill>
                <a:latin typeface="Arial"/>
              </a:rPr>
              <a:t>срок ведения бизнеса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F3124"/>
                </a:solidFill>
                <a:latin typeface="Arial"/>
              </a:rPr>
              <a:t>•  </a:t>
            </a:r>
            <a:r>
              <a:rPr sz="1050">
                <a:solidFill>
                  <a:srgbClr val="2B303B"/>
                </a:solidFill>
                <a:latin typeface="Arial"/>
              </a:rPr>
              <a:t>лимиты продукта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F3124"/>
                </a:solidFill>
                <a:latin typeface="Arial"/>
              </a:rPr>
              <a:t>•  </a:t>
            </a:r>
            <a:r>
              <a:rPr sz="1050">
                <a:solidFill>
                  <a:srgbClr val="2B303B"/>
                </a:solidFill>
                <a:latin typeface="Arial"/>
              </a:rPr>
              <a:t>требование залога / счёта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F3124"/>
                </a:solidFill>
                <a:latin typeface="Arial"/>
              </a:rPr>
              <a:t>•  </a:t>
            </a:r>
            <a:r>
              <a:rPr sz="1050">
                <a:solidFill>
                  <a:srgbClr val="2B303B"/>
                </a:solidFill>
                <a:latin typeface="Arial"/>
              </a:rPr>
              <a:t>ожидаемая ставка по риск-профилю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60520"/>
            <a:ext cx="3502152" cy="2057400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5320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8A7E"/>
                </a:solidFill>
                <a:latin typeface="Arial"/>
              </a:rPr>
              <a:t>ПЛАТЁЖ — ГЛАВНАЯ ЦИФРА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6451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109 959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5193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8BEC9"/>
                </a:solidFill>
                <a:latin typeface="Arial"/>
              </a:rPr>
              <a:t>в месяц · 17,9% · 12 месяцев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577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A919E"/>
                </a:solidFill>
                <a:latin typeface="Arial"/>
              </a:rPr>
              <a:t>Платёж пересчитывается на лету при изменении суммы и срока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ЗАЯВКА И ПРЕДЛОЖЕНИЕ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Прозрачный статус и условия, которые понятны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Arial"/>
              </a:rPr>
              <a:t>Таймлайн этапов, журнал событий и контрпредложение с явным сравнением «запрошено / предложено».</a:t>
            </a:r>
          </a:p>
        </p:txBody>
      </p:sp>
      <p:pic>
        <p:nvPicPr>
          <p:cNvPr id="5" name="Picture 4" descr="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5988"/>
            <a:ext cx="6903720" cy="3883342"/>
          </a:xfrm>
          <a:prstGeom prst="rect">
            <a:avLst/>
          </a:prstGeom>
        </p:spPr>
      </p:pic>
      <p:pic>
        <p:nvPicPr>
          <p:cNvPr id="6" name="Picture 5" descr="counter_of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396" y="2057400"/>
            <a:ext cx="3495039" cy="1965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4160520"/>
            <a:ext cx="3867912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82127" y="43159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4599432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клиент не звонит в банк — статус обновляется сам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условия можно сравнить, а не угадывать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каждое действие фиксируется в журнале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при отказе — причины и следующий шаг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МОДЕЛЬ ПРОЦЕССА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Заявка как управляемый объект с 14 состояниями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6596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EF3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2121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Подача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draft
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8256" y="23957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57984" y="196596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157984" y="2121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Проверки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7984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3957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96596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49039" y="2121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Обогащение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БКИ · ЕГРЮЛ
ФНС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3957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0096" y="196596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FEF4E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40096" y="2121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Скоринг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балл 0–1000
класс A–E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3957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196596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F2EB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31152" y="2121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auto / 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957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2207" y="196596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F2EB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22207" y="2121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Оферта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offer_issued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3535" y="239572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8A2B3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13263" y="1965960"/>
            <a:ext cx="1463040" cy="1143000"/>
          </a:xfrm>
          <a:prstGeom prst="roundRect">
            <a:avLst>
              <a:gd name="adj" fmla="val 12000"/>
            </a:avLst>
          </a:prstGeom>
          <a:solidFill>
            <a:srgbClr val="E7F7F0"/>
          </a:solidFill>
          <a:ln w="1270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13263" y="2121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Выдача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3263" y="2423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signed
funded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520440"/>
            <a:ext cx="1463040" cy="64008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 w="12700">
            <a:solidFill>
              <a:srgbClr val="EF3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6928" y="3703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B81C12"/>
                </a:solidFill>
                <a:latin typeface="Arial"/>
              </a:rPr>
              <a:t>Отказ · declined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3101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Arial"/>
              </a:rPr>
              <a:t>стоп-факторы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3520440"/>
            <a:ext cx="2286000" cy="640080"/>
          </a:xfrm>
          <a:prstGeom prst="roundRect">
            <a:avLst>
              <a:gd name="adj" fmla="val 14000"/>
            </a:avLst>
          </a:prstGeom>
          <a:solidFill>
            <a:srgbClr val="FEF4E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577840" y="36758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2400E"/>
                </a:solidFill>
                <a:latin typeface="Arial"/>
              </a:rPr>
              <a:t>Ручное рассмотрение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520440"/>
            <a:ext cx="2606040" cy="640080"/>
          </a:xfrm>
          <a:prstGeom prst="roundRect">
            <a:avLst>
              <a:gd name="adj" fmla="val 14000"/>
            </a:avLst>
          </a:prstGeom>
          <a:solidFill>
            <a:srgbClr val="EAF0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92440" y="36118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80" b="1" i="0">
                <a:solidFill>
                  <a:srgbClr val="1E40AF"/>
                </a:solidFill>
                <a:latin typeface="Arial"/>
              </a:rPr>
              <a:t>Уточнения у клиента
info_requested ↔ client_info_provided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43484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04672" y="45902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181F"/>
                </a:solidFill>
                <a:latin typeface="Arial"/>
              </a:rPr>
              <a:t>ПРАВИЛА МАРШРУТИЗАЦИИ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4873752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стоп-фактор → отказ автоматически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класс A / B (&lt; 1,5 млн ₽) → авто-одобрение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класс B (≥ 1,5 млн ₽), C, D → андеррайтер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класс E или нагрузка &gt; 65% для D → отказ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4434840"/>
            <a:ext cx="5349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37376" y="45902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181F"/>
                </a:solidFill>
                <a:latin typeface="Arial"/>
              </a:rPr>
              <a:t>ГАРАНТИИ ЦЕЛОСТНОСТИ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4873752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0E9F6E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все переходы — через один метод + запись события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0E9F6E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недопустимый переход → 409, без «полустатусов»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0E9F6E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SLA ручного этапа 4 часа с подсветкой просрочки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0E9F6E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оферта живёт 7 дней, затем expired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СКОРИНГ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Скоринг — это риск. Решение — это политика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Arial"/>
              </a:rPr>
              <a:t>Балльная модель на 7 факторах, отделённая от правил продукта: одинаковый балл даёт разные условия.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B303B"/>
                </a:solidFill>
                <a:latin typeface="Arial"/>
              </a:rPr>
              <a:t>Финансовая устойчивость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194560"/>
            <a:ext cx="2194560" cy="155448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9788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Arial"/>
              </a:rP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28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B303B"/>
                </a:solidFill>
                <a:latin typeface="Arial"/>
              </a:rPr>
              <a:t>Долговая нагрузка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578608"/>
            <a:ext cx="1755648" cy="155448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97880" y="2532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Arial"/>
              </a:rP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B303B"/>
                </a:solidFill>
                <a:latin typeface="Arial"/>
              </a:rPr>
              <a:t>Кредитная история (БКИ)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962656"/>
            <a:ext cx="1755648" cy="155448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97880" y="29169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Arial"/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009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B303B"/>
                </a:solidFill>
                <a:latin typeface="Arial"/>
              </a:rPr>
              <a:t>Возраст бизнеса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3346704"/>
            <a:ext cx="877824" cy="155448"/>
          </a:xfrm>
          <a:prstGeom prst="roundRect">
            <a:avLst>
              <a:gd name="adj" fmla="val 50000"/>
            </a:avLst>
          </a:prstGeom>
          <a:solidFill>
            <a:srgbClr val="F4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97880" y="33009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Arial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850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B303B"/>
                </a:solidFill>
                <a:latin typeface="Arial"/>
              </a:rPr>
              <a:t>Обороты по счёту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730752"/>
            <a:ext cx="877824" cy="155448"/>
          </a:xfrm>
          <a:prstGeom prst="roundRect">
            <a:avLst>
              <a:gd name="adj" fmla="val 50000"/>
            </a:avLst>
          </a:prstGeom>
          <a:solidFill>
            <a:srgbClr val="F4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97880" y="3685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Arial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B303B"/>
                </a:solidFill>
                <a:latin typeface="Arial"/>
              </a:rPr>
              <a:t>Соответствие продукту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114800"/>
            <a:ext cx="877824" cy="155448"/>
          </a:xfrm>
          <a:prstGeom prst="roundRect">
            <a:avLst>
              <a:gd name="adj" fmla="val 50000"/>
            </a:avLst>
          </a:prstGeom>
          <a:solidFill>
            <a:srgbClr val="F4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897880" y="4069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Arial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531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B303B"/>
                </a:solidFill>
                <a:latin typeface="Arial"/>
              </a:rPr>
              <a:t>Профиль клиента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498848"/>
            <a:ext cx="438912" cy="155448"/>
          </a:xfrm>
          <a:prstGeom prst="roundRect">
            <a:avLst>
              <a:gd name="adj" fmla="val 50000"/>
            </a:avLst>
          </a:prstGeom>
          <a:solidFill>
            <a:srgbClr val="F4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897880" y="4453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Arial"/>
              </a:rPr>
              <a:t>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057400"/>
            <a:ext cx="4873752" cy="2084831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03720" y="22128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РИСК-КЛАССЫ И МАРШРУТ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2487168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0" b="1">
                <a:solidFill>
                  <a:srgbClr val="0E9F6E"/>
                </a:solidFill>
                <a:latin typeface="Arial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2505456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800–1000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2505456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PD 0,9%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50545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303B"/>
                </a:solidFill>
                <a:latin typeface="Arial"/>
              </a:rPr>
              <a:t>авто-одобрение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788920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EE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0" b="1">
                <a:solidFill>
                  <a:srgbClr val="65A30D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80720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680–799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80720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PD 2,4%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807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303B"/>
                </a:solidFill>
                <a:latin typeface="Arial"/>
              </a:rPr>
              <a:t>авто; ≥1,5 млн — ручное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3090672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FE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0" b="1">
                <a:solidFill>
                  <a:srgbClr val="D97706"/>
                </a:solidFill>
                <a:latin typeface="Arial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912" y="310896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550–679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310896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PD 5,8%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1089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303B"/>
                </a:solidFill>
                <a:latin typeface="Arial"/>
              </a:rPr>
              <a:t>ручное + контрпредложение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3392424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0" b="1">
                <a:solidFill>
                  <a:srgbClr val="EA580C"/>
                </a:solidFill>
                <a:latin typeface="Arial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341071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420–549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341071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PD 12,5%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4107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303B"/>
                </a:solidFill>
                <a:latin typeface="Arial"/>
              </a:rPr>
              <a:t>ручное / отказ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3694176"/>
            <a:ext cx="292608" cy="21945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0" b="1">
                <a:solidFill>
                  <a:srgbClr val="EF3124"/>
                </a:solidFill>
                <a:latin typeface="Arial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912" y="3712463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0–419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371246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PD 24%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3712463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303B"/>
                </a:solidFill>
                <a:latin typeface="Arial"/>
              </a:rPr>
              <a:t>отказ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4297680"/>
            <a:ext cx="4873752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903720" y="44531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181F"/>
                </a:solidFill>
                <a:latin typeface="Arial"/>
              </a:rPr>
              <a:t>СТОП-ФАКТОРЫ (АВТО-ОТКАЗ)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736592"/>
            <a:ext cx="4434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текущая просрочка или задержка &gt; 60 дней за 12 мес.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долговая нагрузка после выдачи &gt; 80% выручки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налоговый долг, массовый адрес, статус ≠ «Действующий»</a:t>
            </a:r>
          </a:p>
          <a:p>
            <a:pPr>
              <a:lnSpc>
                <a:spcPct val="115000"/>
              </a:lnSpc>
              <a:spcAft>
                <a:spcPts val="350"/>
              </a:spcAft>
            </a:pPr>
            <a:r>
              <a:rPr sz="980" b="1">
                <a:solidFill>
                  <a:srgbClr val="EF3124"/>
                </a:solidFill>
                <a:latin typeface="Arial"/>
              </a:rPr>
              <a:t>•  </a:t>
            </a:r>
            <a:r>
              <a:rPr sz="980">
                <a:solidFill>
                  <a:srgbClr val="2B303B"/>
                </a:solidFill>
                <a:latin typeface="Arial"/>
              </a:rPr>
              <a:t>срок бизнеса меньше минимума продукта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074920"/>
            <a:ext cx="5897880" cy="1143000"/>
          </a:xfrm>
          <a:prstGeom prst="roundRect">
            <a:avLst>
              <a:gd name="adj" fmla="val 5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68680" y="5212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8A7E"/>
                </a:solidFill>
                <a:latin typeface="Arial"/>
              </a:rPr>
              <a:t>AFFORDABILITY И РЕКОМЕНДАЦИЯ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486400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FFFFFF"/>
                </a:solidFill>
                <a:latin typeface="Arial"/>
              </a:rPr>
              <a:t>нагрузка = (платежи + новый аннуитет) / выручка
сумма = min(запрошено, лимит, PV(0,45 × выручка − платежи))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БЭК-ОФИС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Андеррайтер подключается только там, где нужен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Arial"/>
              </a:rPr>
              <a:t>Очередь с SLA, полная карточка клиента и четыре решения в одном окне.</a:t>
            </a:r>
          </a:p>
        </p:txBody>
      </p:sp>
      <p:pic>
        <p:nvPicPr>
          <p:cNvPr id="5" name="Picture 4" descr="bank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83130"/>
            <a:ext cx="6949440" cy="39090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2057400"/>
            <a:ext cx="373075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28431" y="2212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4 РЕШЕНИЯ ОДНОЙ ФОРМОЙ</a:t>
            </a:r>
          </a:p>
        </p:txBody>
      </p:sp>
      <p:sp>
        <p:nvSpPr>
          <p:cNvPr id="8" name="Oval 7"/>
          <p:cNvSpPr/>
          <p:nvPr/>
        </p:nvSpPr>
        <p:spPr>
          <a:xfrm>
            <a:off x="8028431" y="2569464"/>
            <a:ext cx="109728" cy="10972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0" y="25054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03B"/>
                </a:solidFill>
                <a:latin typeface="Arial"/>
              </a:rPr>
              <a:t>Одобрить</a:t>
            </a:r>
          </a:p>
        </p:txBody>
      </p:sp>
      <p:sp>
        <p:nvSpPr>
          <p:cNvPr id="10" name="Oval 9"/>
          <p:cNvSpPr/>
          <p:nvPr/>
        </p:nvSpPr>
        <p:spPr>
          <a:xfrm>
            <a:off x="8028431" y="2907792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0" y="284378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03B"/>
                </a:solidFill>
                <a:latin typeface="Arial"/>
              </a:rPr>
              <a:t>Контрпредложение</a:t>
            </a:r>
          </a:p>
        </p:txBody>
      </p:sp>
      <p:sp>
        <p:nvSpPr>
          <p:cNvPr id="12" name="Oval 11"/>
          <p:cNvSpPr/>
          <p:nvPr/>
        </p:nvSpPr>
        <p:spPr>
          <a:xfrm>
            <a:off x="8028431" y="324612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0" y="31821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03B"/>
                </a:solidFill>
                <a:latin typeface="Arial"/>
              </a:rPr>
              <a:t>Запросить уточнения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584448"/>
            <a:ext cx="109728" cy="109728"/>
          </a:xfrm>
          <a:prstGeom prst="ellipse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0" y="35204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03B"/>
                </a:solidFill>
                <a:latin typeface="Arial"/>
              </a:rPr>
              <a:t>Отказать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160520"/>
            <a:ext cx="3730752" cy="2057400"/>
          </a:xfrm>
          <a:prstGeom prst="roundRect">
            <a:avLst>
              <a:gd name="adj" fmla="val 6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28431" y="43159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8A7E"/>
                </a:solidFill>
                <a:latin typeface="Arial"/>
              </a:rPr>
              <a:t>ЭКОНОМИКА КОНВЕЙЕРА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46177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50–80%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91947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AA1AE"/>
                </a:solidFill>
                <a:latin typeface="Arial"/>
              </a:rPr>
              <a:t>решений без участия человека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1" y="461772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&lt; 5 мин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1" y="491947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AA1AE"/>
                </a:solidFill>
                <a:latin typeface="Arial"/>
              </a:rPr>
              <a:t>автоматическое 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5394959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4 часа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56967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AA1AE"/>
                </a:solidFill>
                <a:latin typeface="Arial"/>
              </a:rPr>
              <a:t>SLA ручного рассмотрения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1" y="5394959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1 экран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1511" y="56967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9AA1AE"/>
                </a:solidFill>
                <a:latin typeface="Arial"/>
              </a:rPr>
              <a:t>вместо 5 систем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ПЕРСОНАЛЬНАЯ ЛЕНТА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Новости, которые меняются вместе с клиентом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Arial"/>
              </a:rPr>
              <a:t>Релевантность по трём сигналам: отрасль, стадия кредитного пути, профиль обслуживания.</a:t>
            </a:r>
          </a:p>
        </p:txBody>
      </p:sp>
      <p:pic>
        <p:nvPicPr>
          <p:cNvPr id="5" name="Picture 4" descr="n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7412"/>
            <a:ext cx="7040880" cy="39604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2057400"/>
            <a:ext cx="363931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38160" y="2240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ТРИ СИГНАЛА РЕЛЕВАНТНОСТИ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F3124"/>
                </a:solidFill>
                <a:latin typeface="Arial"/>
              </a:rPr>
              <a:t>Отрасль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6207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«Общественное питание» → сезонные и отраслевые материалы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472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97706"/>
                </a:solidFill>
                <a:latin typeface="Arial"/>
              </a:rPr>
              <a:t>Стадия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новая заявка / в работе / есть оферта / действующий кредит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28853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3AED"/>
                </a:solidFill>
                <a:latin typeface="Arial"/>
              </a:rPr>
              <a:t>Профиль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54456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клиент банка, наличие залога, риск ОКВЭД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46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98A2B3"/>
                </a:solidFill>
                <a:latin typeface="Arial"/>
              </a:rPr>
              <a:t>каждый материал объясняет, почему он здесь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5257800"/>
            <a:ext cx="3639312" cy="9601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0" y="5394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Демонстрация на защите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63270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6B7280"/>
                </a:solidFill>
                <a:latin typeface="Arial"/>
              </a:rPr>
              <a:t>Подайте заявку — лента изменится: поднимутся материалы про скоринг и статусы.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Cloud-native, Docker, без платных зависимостей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743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78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81F"/>
                </a:solidFill>
                <a:latin typeface="Arial"/>
              </a:rPr>
              <a:t>React 18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SPA, nginx в проде
клиент и андеррайтер
адаптивная вёрстка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2880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148840"/>
            <a:ext cx="38404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60520" y="23042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BACKEND · REST +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5786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FastAPI · SQLAlchemy 2 · 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routers → services → models
конвейер, скоринг, моки источников,
workflow и персонализация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880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48840"/>
            <a:ext cx="32278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49640" y="23042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F3124"/>
                </a:solidFill>
                <a:latin typeface="Arial"/>
              </a:rPr>
              <a:t>ДАННЫЕ И МОКИ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78608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SQLite (WAL) · PostgreSQL-ready
БКИ · ЕГРЮЛ · ФНС — локальные моки
JWT, PBKDF2, роли, аудит-журнал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2615184" cy="6400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7" y="44348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Безопасность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73659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6B7280"/>
                </a:solidFill>
                <a:latin typeface="Arial"/>
              </a:rPr>
              <a:t>PBKDF2 + JWT, ролевой доступ, аудит каждого действия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42519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456432" y="4251960"/>
            <a:ext cx="2615184" cy="64008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57600" y="44348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Надёжность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73659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6B7280"/>
                </a:solidFill>
                <a:latin typeface="Arial"/>
              </a:rPr>
              <a:t>транзакции по шагам, защита фоновых задач, healthcheck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42519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72784" y="4251960"/>
            <a:ext cx="2615184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73952" y="44348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Масштабирование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73659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6B7280"/>
                </a:solidFill>
                <a:latin typeface="Arial"/>
              </a:rPr>
              <a:t>stateless API, вынос конвейера в очередь без смены контрактов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42519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089136" y="4251960"/>
            <a:ext cx="2615184" cy="640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90304" y="44348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Проверяемость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473659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6B7280"/>
                </a:solidFill>
                <a:latin typeface="Arial"/>
              </a:rPr>
              <a:t>13 автотестов, OpenAPI, Postman-коллекция, README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docker compose up --build  →  приложение :8080, API и Swagger :8000  ·  тесты: pytest -q → 13 passed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ПРОВЕРКА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4181F"/>
                </a:solidFill>
                <a:latin typeface="Arial"/>
              </a:rPr>
              <a:t>Критерии успеха кейса — и как мы их закрыли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533095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9536" y="2322576"/>
            <a:ext cx="292608" cy="292608"/>
          </a:xfrm>
          <a:prstGeom prst="ellipse">
            <a:avLst/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354579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9F6E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042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Целостность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61518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6B7280"/>
                </a:solidFill>
                <a:latin typeface="Arial"/>
              </a:rPr>
              <a:t>Один процесс: продукт → заявка → проверки → скоринг → решение → оферта → подпись → выдача. Данные не теряются между этапами.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3095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37376" y="2322576"/>
            <a:ext cx="292608" cy="292608"/>
          </a:xfrm>
          <a:prstGeom prst="ellipse">
            <a:avLst/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37376" y="2354579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9F6E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23042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Качество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61518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6B7280"/>
                </a:solidFill>
                <a:latin typeface="Arial"/>
              </a:rPr>
              <a:t>Статус и следующий шаг на каждом экране, понятные причины отказа, контрпредложение со сравнением условий.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33095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59536" y="3694176"/>
            <a:ext cx="292608" cy="292608"/>
          </a:xfrm>
          <a:prstGeom prst="ellipse">
            <a:avLst/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" y="372618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9F6E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67588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Согласованность модулей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986783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6B7280"/>
                </a:solidFill>
                <a:latin typeface="Arial"/>
              </a:rPr>
              <a:t>Единая БД и журнал событий: действия клиента и банка мгновенно отражаются в обеих частях.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74720"/>
            <a:ext cx="533095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7376" y="3694176"/>
            <a:ext cx="292608" cy="292608"/>
          </a:xfrm>
          <a:prstGeom prst="ellipse">
            <a:avLst/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37376" y="372618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9F6E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367588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Enterprise-подход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986783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6B7280"/>
                </a:solidFill>
                <a:latin typeface="Arial"/>
              </a:rPr>
              <a:t>Роли, аудит, конфигурируемость, отказоустойчивость, путь к PostgreSQL и очереди.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20"/>
            <a:ext cx="533095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59536" y="5065776"/>
            <a:ext cx="292608" cy="292608"/>
          </a:xfrm>
          <a:prstGeom prst="ellipse">
            <a:avLst/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9536" y="509778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9F6E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0474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Потенциал развития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358383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6B7280"/>
                </a:solidFill>
                <a:latin typeface="Arial"/>
              </a:rPr>
              <a:t>Замена моков на реальные API без изменения конвейера, версионирование скоринга, ML.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46320"/>
            <a:ext cx="533095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37376" y="5065776"/>
            <a:ext cx="292608" cy="292608"/>
          </a:xfrm>
          <a:prstGeom prst="ellipse">
            <a:avLst/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37376" y="509778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E9F6E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50474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Готовность к проверке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5358383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6B7280"/>
                </a:solidFill>
                <a:latin typeface="Arial"/>
              </a:rPr>
              <a:t>Docker Compose, README, тестовые аккаунты, OpenAPI, Postman, 13 автотестов.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19E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A919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463040"/>
            <a:ext cx="4937760" cy="4937760"/>
          </a:xfrm>
          <a:prstGeom prst="ellipse">
            <a:avLst/>
          </a:prstGeom>
          <a:solidFill>
            <a:srgbClr val="2A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Что показать за 5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A7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305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Иван · Кофейня «Весна»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231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1AE"/>
                </a:solidFill>
                <a:latin typeface="Arial"/>
              </a:rPr>
              <a:t>Оборотный кредит 700 000 ₽ → авто-одобрение → подписание → выдача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62072"/>
            <a:ext cx="7863840" cy="10972"/>
          </a:xfrm>
          <a:prstGeom prst="rect">
            <a:avLst/>
          </a:prstGeom>
          <a:solidFill>
            <a:srgbClr val="2C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3081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A7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632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Пётр · ИП «СтройМастер»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5584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1AE"/>
                </a:solidFill>
                <a:latin typeface="Arial"/>
              </a:rPr>
              <a:t>1 800 000 ₽ → ручное рассмотрение андеррайтером → контрпредложение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94760"/>
            <a:ext cx="7863840" cy="10972"/>
          </a:xfrm>
          <a:prstGeom prst="rect">
            <a:avLst/>
          </a:prstGeom>
          <a:solidFill>
            <a:srgbClr val="2C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40142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A7E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959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Лента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8853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1AE"/>
                </a:solidFill>
                <a:latin typeface="Arial"/>
              </a:rPr>
              <a:t>Новости объясняют релевантность и меняются вместе со стадией заявки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27448"/>
            <a:ext cx="7863840" cy="10972"/>
          </a:xfrm>
          <a:prstGeom prst="rect">
            <a:avLst/>
          </a:prstGeom>
          <a:solidFill>
            <a:srgbClr val="2C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9469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8A7E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286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Андеррайтер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22122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1AE"/>
                </a:solidFill>
                <a:latin typeface="Arial"/>
              </a:rPr>
              <a:t>Очередь, карточка клиента, четыре решения, аналитика конвейера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660136"/>
            <a:ext cx="7863840" cy="10972"/>
          </a:xfrm>
          <a:prstGeom prst="rect">
            <a:avLst/>
          </a:prstGeom>
          <a:solidFill>
            <a:srgbClr val="2C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144000" y="2148840"/>
            <a:ext cx="2542032" cy="3310128"/>
          </a:xfrm>
          <a:prstGeom prst="roundRect">
            <a:avLst>
              <a:gd name="adj" fmla="val 6000"/>
            </a:avLst>
          </a:prstGeom>
          <a:solidFill>
            <a:srgbClr val="1C2029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72600" y="2304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8A7E"/>
                </a:solidFill>
                <a:latin typeface="Arial"/>
              </a:rPr>
              <a:t>ЗАПУСК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060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docker compose up --build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926080"/>
            <a:ext cx="2103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C9CDD6"/>
                </a:solidFill>
                <a:latin typeface="Arial"/>
              </a:rPr>
              <a:t>:8080 — интерфейс
:8000 — API и Swagger
логин: demo1234
13 автотестов
README · OpenAPI
Postman-коллекция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5D9E0"/>
                </a:solidFill>
                <a:latin typeface="Arial"/>
              </a:rPr>
              <a:t>Спасибо! Вопросы — и давайте посмотрим на работающий прототип.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C7280"/>
                </a:solidFill>
                <a:latin typeface="Arial"/>
              </a:rPr>
              <a:t>Умный кредитный кабинет предпринимателя · Альфа-Хак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282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C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